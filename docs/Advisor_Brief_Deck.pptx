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384048"/>
          </a:xfrm>
          <a:prstGeom prst="rect">
            <a:avLst/>
          </a:prstGeom>
          <a:solidFill>
            <a:srgbClr val="E9B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EF2F8"/>
                </a:solidFill>
                <a:latin typeface="Segoe UI"/>
              </a:rPr>
              <a:t>Advisor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577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>
                <a:solidFill>
                  <a:srgbClr val="EEF2F8"/>
                </a:solidFill>
                <a:latin typeface="Segoe UI"/>
              </a:rPr>
              <a:t>Get up to speed on any</a:t>
            </a:r>
          </a:p>
          <a:p>
            <a:pPr algn="l">
              <a:lnSpc>
                <a:spcPct val="105000"/>
              </a:lnSpc>
            </a:pPr>
            <a:r>
              <a:rPr sz="3100" b="1">
                <a:solidFill>
                  <a:srgbClr val="EEF2F8"/>
                </a:solidFill>
                <a:latin typeface="Segoe UI"/>
              </a:rPr>
              <a:t>stock in about a minute.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A9B4C8"/>
                </a:solidFill>
                <a:latin typeface="Segoe UI"/>
              </a:rPr>
              <a:t>Built for the moment a client asks about a company you have not looked at this quarter. One page, every sentence backed by the company's own filings.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577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9B860"/>
                </a:solidFill>
                <a:latin typeface="Consolas"/>
              </a:rPr>
              <a:t>A working prototype, not a mockup. Live data, live filings.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868680"/>
            <a:ext cx="5669280" cy="5120640"/>
          </a:xfrm>
          <a:prstGeom prst="roundRect">
            <a:avLst>
              <a:gd name="adj" fmla="val 3000"/>
            </a:avLst>
          </a:prstGeom>
          <a:solidFill>
            <a:srgbClr val="0F1729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rk_t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051560"/>
            <a:ext cx="5303520" cy="33129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B93"/>
                </a:solidFill>
                <a:latin typeface="Consolas"/>
              </a:rPr>
              <a:t>Advisor Brief  ·  Prototype for wealth management advisors  · 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F7B93"/>
                </a:solidFill>
                <a:latin typeface="Consolas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F7B93"/>
                </a:solidFill>
                <a:latin typeface="Consola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EF2F8"/>
                </a:solidFill>
                <a:latin typeface="Segoe UI"/>
              </a:rPr>
              <a:t>The ten minutes before the call.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8686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A9B4C8"/>
                </a:solidFill>
                <a:latin typeface="Segoe UI"/>
              </a:rPr>
              <a:t>A client mentions a stock. The advisor has a few minutes to sound informed, be accurate, and stay on the right side of compliance. Today that means one of two things.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3520440" cy="2651760"/>
          </a:xfrm>
          <a:prstGeom prst="roundRect">
            <a:avLst>
              <a:gd name="adj" fmla="val 4000"/>
            </a:avLst>
          </a:prstGeom>
          <a:solidFill>
            <a:srgbClr val="0F1729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B860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EF2F8"/>
                </a:solidFill>
                <a:latin typeface="Segoe UI"/>
              </a:rPr>
              <a:t>Read for an hour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A9B4C8"/>
                </a:solidFill>
                <a:latin typeface="Segoe UI"/>
              </a:rPr>
              <a:t>The annual and quarterly reports run to hundreds of pages. The recent announcements sit in a separate feed. Nobody has an hour.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2788920"/>
            <a:ext cx="3520440" cy="2651760"/>
          </a:xfrm>
          <a:prstGeom prst="roundRect">
            <a:avLst>
              <a:gd name="adj" fmla="val 4000"/>
            </a:avLst>
          </a:prstGeom>
          <a:solidFill>
            <a:srgbClr val="0F1729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30175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B860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33832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EF2F8"/>
                </a:solidFill>
                <a:latin typeface="Segoe UI"/>
              </a:rPr>
              <a:t>Or trust a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388620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A9B4C8"/>
                </a:solidFill>
                <a:latin typeface="Segoe UI"/>
              </a:rPr>
              <a:t>Third party summaries and search results are fast, but they do not show where a number came from, and they are sometimes simply wrong.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2788920"/>
            <a:ext cx="3520440" cy="2651760"/>
          </a:xfrm>
          <a:prstGeom prst="roundRect">
            <a:avLst>
              <a:gd name="adj" fmla="val 4000"/>
            </a:avLst>
          </a:prstGeom>
          <a:solidFill>
            <a:srgbClr val="0F1729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39" y="30175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B860"/>
                </a:solidFill>
                <a:latin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9" y="33832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EF2F8"/>
                </a:solidFill>
                <a:latin typeface="Segoe UI"/>
              </a:rPr>
              <a:t>Either way, no record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9" y="388620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A9B4C8"/>
                </a:solidFill>
                <a:latin typeface="Segoe UI"/>
              </a:rPr>
              <a:t>Whatever the advisor says on the call, there is no trail showing which document supported it. That is a problem the first time a client disputes a fact.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15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9B860"/>
                </a:solidFill>
                <a:latin typeface="Segoe UI"/>
              </a:rPr>
              <a:t>What advisors told us they want: the facts, the source, and the time back for the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B93"/>
                </a:solidFill>
                <a:latin typeface="Consolas"/>
              </a:rPr>
              <a:t>Advisor Brief  ·  Prototype for wealth management advisors  ·  September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F7B93"/>
                </a:solidFill>
                <a:latin typeface="Consolas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F7B93"/>
                </a:solidFill>
                <a:latin typeface="Consolas"/>
              </a:rPr>
              <a:t>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EF2F8"/>
                </a:solidFill>
                <a:latin typeface="Segoe UI"/>
              </a:rPr>
              <a:t>Type a ticker. Read for one minute.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221992"/>
            <a:ext cx="82296" cy="457200"/>
          </a:xfrm>
          <a:prstGeom prst="rect">
            <a:avLst/>
          </a:prstGeom>
          <a:solidFill>
            <a:srgbClr val="E9B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EF2F8"/>
                </a:solidFill>
                <a:latin typeface="Segoe UI"/>
              </a:rPr>
              <a:t>The price and the key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50592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9B4C8"/>
                </a:solidFill>
                <a:latin typeface="Segoe UI"/>
              </a:rPr>
              <a:t>Live quote, market value, valuation, and the 52 week range.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90088"/>
            <a:ext cx="82296" cy="457200"/>
          </a:xfrm>
          <a:prstGeom prst="rect">
            <a:avLst/>
          </a:prstGeom>
          <a:solidFill>
            <a:srgbClr val="E9B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16936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EF2F8"/>
                </a:solidFill>
                <a:latin typeface="Segoe UI"/>
              </a:rPr>
              <a:t>Two years of results in one 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18688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9B4C8"/>
                </a:solidFill>
                <a:latin typeface="Segoe UI"/>
              </a:rPr>
              <a:t>Revenue and profit, quarter by quarter, straight from the filed statements.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58184"/>
            <a:ext cx="82296" cy="457200"/>
          </a:xfrm>
          <a:prstGeom prst="rect">
            <a:avLst/>
          </a:prstGeom>
          <a:solidFill>
            <a:srgbClr val="E9B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685032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EF2F8"/>
                </a:solidFill>
                <a:latin typeface="Segoe UI"/>
              </a:rPr>
              <a:t>The story in 60 seconds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86784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9B4C8"/>
                </a:solidFill>
                <a:latin typeface="Segoe UI"/>
              </a:rPr>
              <a:t>What the company does, how it makes money, how the last quarter went.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26280"/>
            <a:ext cx="82296" cy="457200"/>
          </a:xfrm>
          <a:prstGeom prst="rect">
            <a:avLst/>
          </a:prstGeom>
          <a:solidFill>
            <a:srgbClr val="E9B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453128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EF2F8"/>
                </a:solidFill>
                <a:latin typeface="Segoe UI"/>
              </a:rPr>
              <a:t>What changed, the top risks, recent announcements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5488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9B4C8"/>
                </a:solidFill>
                <a:latin typeface="Segoe UI"/>
              </a:rPr>
              <a:t>Ranked and dated, so the advisor knows what is new.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294376"/>
            <a:ext cx="82296" cy="457200"/>
          </a:xfrm>
          <a:prstGeom prst="rect">
            <a:avLst/>
          </a:prstGeom>
          <a:solidFill>
            <a:srgbClr val="E9B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221224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EF2F8"/>
                </a:solidFill>
                <a:latin typeface="Segoe UI"/>
              </a:rPr>
              <a:t>Talking points and likely client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22976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9B4C8"/>
                </a:solidFill>
                <a:latin typeface="Segoe UI"/>
              </a:rPr>
              <a:t>Ready to say out loud, with the answer the filing supports.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868680"/>
            <a:ext cx="5440680" cy="5212080"/>
          </a:xfrm>
          <a:prstGeom prst="roundRect">
            <a:avLst>
              <a:gd name="adj" fmla="val 3000"/>
            </a:avLst>
          </a:prstGeom>
          <a:solidFill>
            <a:srgbClr val="0F1729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ark_ba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51560"/>
            <a:ext cx="5074920" cy="1103795"/>
          </a:xfrm>
          <a:prstGeom prst="rect">
            <a:avLst/>
          </a:prstGeom>
        </p:spPr>
      </p:pic>
      <p:pic>
        <p:nvPicPr>
          <p:cNvPr id="21" name="Picture 20" descr="dark_summa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286000"/>
            <a:ext cx="5074920" cy="1456502"/>
          </a:xfrm>
          <a:prstGeom prst="rect">
            <a:avLst/>
          </a:prstGeom>
        </p:spPr>
      </p:pic>
      <p:pic>
        <p:nvPicPr>
          <p:cNvPr id="22" name="Picture 21" descr="dark_risk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840480"/>
            <a:ext cx="5074920" cy="149710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B93"/>
                </a:solidFill>
                <a:latin typeface="Consolas"/>
              </a:rPr>
              <a:t>Advisor Brief  ·  Prototype for wealth management advisors  ·  September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F7B93"/>
                </a:solidFill>
                <a:latin typeface="Consolas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F7B93"/>
                </a:solidFill>
                <a:latin typeface="Consolas"/>
              </a:rPr>
              <a:t>WHY IT CAN BE TRUSTED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EF2F8"/>
                </a:solidFill>
                <a:latin typeface="Segoe UI"/>
              </a:rPr>
              <a:t>Every sentence shows its source.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EF2F8"/>
                </a:solidFill>
                <a:latin typeface="Segoe UI"/>
              </a:rPr>
              <a:t>Linked to the filing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50592"/>
            <a:ext cx="5577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9B4C8"/>
                </a:solidFill>
                <a:latin typeface="Segoe UI"/>
              </a:rPr>
              <a:t>Every line carries a tag naming the exact report and section it came from. One click opens the original on the SEC's website.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36392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EF2F8"/>
                </a:solidFill>
                <a:latin typeface="Segoe UI"/>
              </a:rPr>
              <a:t>Checked by a second reviewer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38144"/>
            <a:ext cx="5577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9B4C8"/>
                </a:solidFill>
                <a:latin typeface="Segoe UI"/>
              </a:rPr>
              <a:t>Before the advisor sees a sentence, an independent reviewer reads the cited pages and confirms the claim is really there, numbers included.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23944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EF2F8"/>
                </a:solidFill>
                <a:latin typeface="Segoe UI"/>
              </a:rPr>
              <a:t>Held aside when unsure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25696"/>
            <a:ext cx="5577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9B4C8"/>
                </a:solidFill>
                <a:latin typeface="Segoe UI"/>
              </a:rPr>
              <a:t>Anything the reviewer cannot confirm is taken out of the brief and listed separately with the closest evidence. It is never shown as fact.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11496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EF2F8"/>
                </a:solidFill>
                <a:latin typeface="Segoe UI"/>
              </a:rPr>
              <a:t>Never a false confidence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13248"/>
            <a:ext cx="5577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9B4C8"/>
                </a:solidFill>
                <a:latin typeface="Segoe UI"/>
              </a:rPr>
              <a:t>If the review could not run, the brief says so plainly and shows no score at 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868680"/>
            <a:ext cx="5257800" cy="5212080"/>
          </a:xfrm>
          <a:prstGeom prst="roundRect">
            <a:avLst>
              <a:gd name="adj" fmla="val 3000"/>
            </a:avLst>
          </a:prstGeom>
          <a:solidFill>
            <a:srgbClr val="0F1729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ark_valid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143000"/>
            <a:ext cx="4617720" cy="339658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812280" y="4892040"/>
            <a:ext cx="2377440" cy="384048"/>
          </a:xfrm>
          <a:prstGeom prst="roundRect">
            <a:avLst>
              <a:gd name="adj" fmla="val 30000"/>
            </a:avLst>
          </a:prstGeom>
          <a:solidFill>
            <a:srgbClr val="2A2418"/>
          </a:solidFill>
          <a:ln w="9525">
            <a:solidFill>
              <a:srgbClr val="E9B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49560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E9B860"/>
                </a:solidFill>
                <a:latin typeface="Consolas"/>
              </a:rPr>
              <a:t>■ 10-K · Item 1A · 2026-02-25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48920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F7B93"/>
                </a:solidFill>
                <a:latin typeface="Segoe UI"/>
              </a:rPr>
              <a:t>the tag on every sentence; click to open the filing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B93"/>
                </a:solidFill>
                <a:latin typeface="Consolas"/>
              </a:rPr>
              <a:t>Advisor Brief  ·  Prototype for wealth management advisors  ·  September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F7B93"/>
                </a:solidFill>
                <a:latin typeface="Consolas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F7B93"/>
                </a:solidFill>
                <a:latin typeface="Consolas"/>
              </a:rPr>
              <a:t>FOLLOW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EF2F8"/>
                </a:solidFill>
                <a:latin typeface="Segoe UI"/>
              </a:rPr>
              <a:t>Ask a follow up. It remembers.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EF2F8"/>
                </a:solidFill>
                <a:latin typeface="Segoe UI"/>
              </a:rPr>
              <a:t>Questions in plain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50592"/>
            <a:ext cx="5394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9B4C8"/>
                </a:solidFill>
                <a:latin typeface="Segoe UI"/>
              </a:rPr>
              <a:t>"What does management say about supply?" The answer comes from the filings read for this brief, with the source on it, checked the same 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3756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EF2F8"/>
                </a:solidFill>
                <a:latin typeface="Segoe UI"/>
              </a:rPr>
              <a:t>It keeps the thread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39312"/>
            <a:ext cx="5394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9B4C8"/>
                </a:solidFill>
                <a:latin typeface="Segoe UI"/>
              </a:rPr>
              <a:t>"And what about margins?" is understood in context, because the conversation is remembered for the session.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2628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EF2F8"/>
                </a:solidFill>
                <a:latin typeface="Segoe UI"/>
              </a:rPr>
              <a:t>Earlier briefings open instantly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28032"/>
            <a:ext cx="5394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9B4C8"/>
                </a:solidFill>
                <a:latin typeface="Segoe UI"/>
              </a:rPr>
              <a:t>A name briefed earlier today opens in under a second, refreshed with the live price. New filings refresh the brief automatically.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63040"/>
            <a:ext cx="5577840" cy="4023360"/>
          </a:xfrm>
          <a:prstGeom prst="roundRect">
            <a:avLst>
              <a:gd name="adj" fmla="val 3000"/>
            </a:avLst>
          </a:prstGeom>
          <a:solidFill>
            <a:srgbClr val="0F1729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ark_a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45920"/>
            <a:ext cx="5212080" cy="240703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B93"/>
                </a:solidFill>
                <a:latin typeface="Consolas"/>
              </a:rPr>
              <a:t>Advisor Brief  ·  Prototype for wealth management advisors  ·  September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F7B93"/>
                </a:solidFill>
                <a:latin typeface="Consolas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F7B93"/>
                </a:solidFill>
                <a:latin typeface="Consolas"/>
              </a:rPr>
              <a:t>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EF2F8"/>
                </a:solidFill>
                <a:latin typeface="Segoe UI"/>
              </a:rPr>
              <a:t>Built to say no when it should.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240280"/>
            <a:ext cx="128016" cy="128016"/>
          </a:xfrm>
          <a:prstGeom prst="rect">
            <a:avLst/>
          </a:prstGeom>
          <a:solidFill>
            <a:srgbClr val="2E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EF2F8"/>
                </a:solidFill>
                <a:latin typeface="Segoe UI"/>
              </a:rPr>
              <a:t>It never recommends a trade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9B4C8"/>
                </a:solidFill>
                <a:latin typeface="Segoe UI"/>
              </a:rPr>
              <a:t>Ask whether to buy or sell and it declines, every time, and points back to the facts.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08376"/>
            <a:ext cx="128016" cy="128016"/>
          </a:xfrm>
          <a:prstGeom prst="rect">
            <a:avLst/>
          </a:prstGeom>
          <a:solidFill>
            <a:srgbClr val="2E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16936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EF2F8"/>
                </a:solidFill>
                <a:latin typeface="Segoe UI"/>
              </a:rPr>
              <a:t>It never accepts client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9544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9B4C8"/>
                </a:solidFill>
                <a:latin typeface="Segoe UI"/>
              </a:rPr>
              <a:t>Account, card, or identity numbers in a question are refused before anything is processed.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76472"/>
            <a:ext cx="128016" cy="128016"/>
          </a:xfrm>
          <a:prstGeom prst="rect">
            <a:avLst/>
          </a:prstGeom>
          <a:solidFill>
            <a:srgbClr val="2E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85032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EF2F8"/>
                </a:solidFill>
                <a:latin typeface="Segoe UI"/>
              </a:rPr>
              <a:t>It never invents a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4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9B4C8"/>
                </a:solidFill>
                <a:latin typeface="Segoe UI"/>
              </a:rPr>
              <a:t>Every figure is matched against the filing. A number that is not there is held for review.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44568"/>
            <a:ext cx="128016" cy="128016"/>
          </a:xfrm>
          <a:prstGeom prst="rect">
            <a:avLst/>
          </a:prstGeom>
          <a:solidFill>
            <a:srgbClr val="2E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453128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EF2F8"/>
                </a:solidFill>
                <a:latin typeface="Segoe UI"/>
              </a:rPr>
              <a:t>It cannot be talked out of its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45736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9B4C8"/>
                </a:solidFill>
                <a:latin typeface="Segoe UI"/>
              </a:rPr>
              <a:t>Text inside a filing is treated as information, never as instructions.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312664"/>
            <a:ext cx="128016" cy="128016"/>
          </a:xfrm>
          <a:prstGeom prst="rect">
            <a:avLst/>
          </a:prstGeom>
          <a:solidFill>
            <a:srgbClr val="2E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221224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EF2F8"/>
                </a:solidFill>
                <a:latin typeface="Segoe UI"/>
              </a:rPr>
              <a:t>It degrades gracefully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513832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9B4C8"/>
                </a:solidFill>
                <a:latin typeface="Segoe UI"/>
              </a:rPr>
              <a:t>If the writing service is unavailable, the advisor still gets the filed figures, the announcements, and the links, straight from the SEC.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868680"/>
            <a:ext cx="4892040" cy="5212080"/>
          </a:xfrm>
          <a:prstGeom prst="roundRect">
            <a:avLst>
              <a:gd name="adj" fmla="val 3000"/>
            </a:avLst>
          </a:prstGeom>
          <a:solidFill>
            <a:srgbClr val="0F1729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ark_guardrai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097280"/>
            <a:ext cx="4697466" cy="4754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B93"/>
                </a:solidFill>
                <a:latin typeface="Consolas"/>
              </a:rPr>
              <a:t>Advisor Brief  ·  Prototype for wealth management advisors  ·  September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F7B93"/>
                </a:solidFill>
                <a:latin typeface="Consolas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F7B93"/>
                </a:solidFill>
                <a:latin typeface="Consolas"/>
              </a:rPr>
              <a:t>WHAT CHANGES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EF2F8"/>
                </a:solidFill>
                <a:latin typeface="Segoe UI"/>
              </a:rPr>
              <a:t>An hour of reading becomes a minute of preparation.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3566160" cy="3566160"/>
          </a:xfrm>
          <a:prstGeom prst="roundRect">
            <a:avLst>
              <a:gd name="adj" fmla="val 4000"/>
            </a:avLst>
          </a:prstGeom>
          <a:solidFill>
            <a:srgbClr val="0F1729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F7B93"/>
                </a:solidFill>
                <a:latin typeface="Consolas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310896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A9B4C8"/>
                </a:solidFill>
                <a:latin typeface="Segoe UI"/>
              </a:rPr>
              <a:t>45 minutes across three tabs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250" b="0">
                <a:solidFill>
                  <a:srgbClr val="A9B4C8"/>
                </a:solidFill>
                <a:latin typeface="Segoe UI"/>
              </a:rPr>
              <a:t>Notes pasted into an email to self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250" b="0">
                <a:solidFill>
                  <a:srgbClr val="A9B4C8"/>
                </a:solidFill>
                <a:latin typeface="Segoe UI"/>
              </a:rPr>
              <a:t>Numbers remembered, not sourced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250" b="0">
                <a:solidFill>
                  <a:srgbClr val="A9B4C8"/>
                </a:solidFill>
                <a:latin typeface="Segoe UI"/>
              </a:rPr>
              <a:t>Different answers from different advisors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250" b="0">
                <a:solidFill>
                  <a:srgbClr val="A9B4C8"/>
                </a:solidFill>
                <a:latin typeface="Segoe UI"/>
              </a:rPr>
              <a:t>No record of what was said or why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20240"/>
            <a:ext cx="3566160" cy="3566160"/>
          </a:xfrm>
          <a:prstGeom prst="roundRect">
            <a:avLst>
              <a:gd name="adj" fmla="val 4000"/>
            </a:avLst>
          </a:prstGeom>
          <a:solidFill>
            <a:srgbClr val="0F1729"/>
          </a:solidFill>
          <a:ln w="9525">
            <a:solidFill>
              <a:srgbClr val="E9B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103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9B860"/>
                </a:solidFill>
                <a:latin typeface="Consolas"/>
              </a:rPr>
              <a:t>AFTER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423160"/>
            <a:ext cx="310896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EF2F8"/>
                </a:solidFill>
                <a:latin typeface="Segoe UI"/>
              </a:rPr>
              <a:t>One minute, one page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250" b="0">
                <a:solidFill>
                  <a:srgbClr val="EEF2F8"/>
                </a:solidFill>
                <a:latin typeface="Segoe UI"/>
              </a:rPr>
              <a:t>The source on every sentence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250" b="0">
                <a:solidFill>
                  <a:srgbClr val="EEF2F8"/>
                </a:solidFill>
                <a:latin typeface="Segoe UI"/>
              </a:rPr>
              <a:t>Every number matched to the filing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250" b="0">
                <a:solidFill>
                  <a:srgbClr val="EEF2F8"/>
                </a:solidFill>
                <a:latin typeface="Segoe UI"/>
              </a:rPr>
              <a:t>The same brief for every advisor on the desk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250" b="0">
                <a:solidFill>
                  <a:srgbClr val="EEF2F8"/>
                </a:solidFill>
                <a:latin typeface="Segoe UI"/>
              </a:rPr>
              <a:t>A record of what was shown, with time stamps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920240"/>
            <a:ext cx="3703320" cy="3566160"/>
          </a:xfrm>
          <a:prstGeom prst="roundRect">
            <a:avLst>
              <a:gd name="adj" fmla="val 4000"/>
            </a:avLst>
          </a:prstGeom>
          <a:solidFill>
            <a:srgbClr val="0F1729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031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F7B93"/>
                </a:solidFill>
                <a:latin typeface="Consolas"/>
              </a:rPr>
              <a:t>LIGHT OR DARK, DESK OR LAPTOP</a:t>
            </a:r>
          </a:p>
        </p:txBody>
      </p:sp>
      <p:pic>
        <p:nvPicPr>
          <p:cNvPr id="12" name="Picture 11" descr="light_t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468880"/>
            <a:ext cx="3246120" cy="20275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715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9B860"/>
                </a:solidFill>
                <a:latin typeface="Segoe UI"/>
              </a:rPr>
              <a:t>The time comes back to the conversation. The consistency comes back to the firm.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B93"/>
                </a:solidFill>
                <a:latin typeface="Consolas"/>
              </a:rPr>
              <a:t>Advisor Brief  ·  Prototype for wealth management advisors  ·  September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F7B93"/>
                </a:solidFill>
                <a:latin typeface="Consolas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F7B93"/>
                </a:solidFill>
                <a:latin typeface="Consolas"/>
              </a:rPr>
              <a:t>WHAT HAPPENS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EF2F8"/>
                </a:solidFill>
                <a:latin typeface="Segoe UI"/>
              </a:rPr>
              <a:t>A four week pilot with your advisors.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3520440" cy="2377440"/>
          </a:xfrm>
          <a:prstGeom prst="roundRect">
            <a:avLst>
              <a:gd name="adj" fmla="val 4000"/>
            </a:avLst>
          </a:prstGeom>
          <a:solidFill>
            <a:srgbClr val="0F1729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9B860"/>
                </a:solidFill>
                <a:latin typeface="Consolas"/>
              </a:rPr>
              <a:t>WEEKS 1 AND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EF2F8"/>
                </a:solidFill>
                <a:latin typeface="Segoe UI"/>
              </a:rPr>
              <a:t>Five advisors, ten names 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A9B4C8"/>
                </a:solidFill>
                <a:latin typeface="Segoe UI"/>
              </a:rPr>
              <a:t>Real client names, real calls. We watch what they ask and what the brief holds aside.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920240"/>
            <a:ext cx="3520440" cy="2377440"/>
          </a:xfrm>
          <a:prstGeom prst="roundRect">
            <a:avLst>
              <a:gd name="adj" fmla="val 4000"/>
            </a:avLst>
          </a:prstGeom>
          <a:solidFill>
            <a:srgbClr val="0F1729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1999" y="21031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9B860"/>
                </a:solidFill>
                <a:latin typeface="Consolas"/>
              </a:rPr>
              <a:t>WEEK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24231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EF2F8"/>
                </a:solidFill>
                <a:latin typeface="Segoe UI"/>
              </a:rPr>
              <a:t>Review with compliance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92608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A9B4C8"/>
                </a:solidFill>
                <a:latin typeface="Segoe UI"/>
              </a:rPr>
              <a:t>Every brief keeps a record. We sit down with one reviewer and go through what was shown and why.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920240"/>
            <a:ext cx="3520440" cy="2377440"/>
          </a:xfrm>
          <a:prstGeom prst="roundRect">
            <a:avLst>
              <a:gd name="adj" fmla="val 4000"/>
            </a:avLst>
          </a:prstGeom>
          <a:solidFill>
            <a:srgbClr val="0F1729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39" y="21031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9B860"/>
                </a:solidFill>
                <a:latin typeface="Consolas"/>
              </a:rPr>
              <a:t>WEEK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39" y="24231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EF2F8"/>
                </a:solidFill>
                <a:latin typeface="Segoe UI"/>
              </a:rPr>
              <a:t>Decide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9" y="292608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A9B4C8"/>
                </a:solidFill>
                <a:latin typeface="Segoe UI"/>
              </a:rPr>
              <a:t>Usage, accuracy, and time saved on one page, and a plan for rolling it out to the desk.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17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EF2F8"/>
                </a:solidFill>
                <a:latin typeface="Segoe UI"/>
              </a:rPr>
              <a:t>What we need from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834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9B4C8"/>
                </a:solidFill>
                <a:latin typeface="Segoe UI"/>
              </a:rPr>
              <a:t>A short list of names your advisors get asked about most. Ten minutes of feedback per advisor per week. One compliance reviewer for a single session.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9B860"/>
                </a:solidFill>
                <a:latin typeface="Segoe UI"/>
              </a:rPr>
              <a:t>The prototype is live today. The pilot can start Monday.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B93"/>
                </a:solidFill>
                <a:latin typeface="Consolas"/>
              </a:rPr>
              <a:t>Advisor Brief  ·  Prototype for wealth management advisors  ·  September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F7B93"/>
                </a:solidFill>
                <a:latin typeface="Consolas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